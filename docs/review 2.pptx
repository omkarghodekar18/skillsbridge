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75" d="100"/>
          <a:sy n="75" d="100"/>
        </p:scale>
        <p:origin x="64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A4BF-603D-F873-230C-BB12ADB3C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AF69E-7677-E68A-65BB-AF72E67B3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51930-2544-B4BE-7AD4-FDBFF66C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E0684-935E-EC23-135F-6485908FA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96057-6729-C756-41E8-8DFC6365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73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F53A-7B76-9B22-35DF-61504A92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3967-6CF0-8C19-4E0F-CAFEE3636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8EAA9-B5F9-86A4-F47C-55CDF190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923CE-B5E3-041F-2FB0-B7F9B27D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0D1C5-3588-DA70-27D5-7E55F173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91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8B1E1-F860-723F-EF6A-32B50593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2C434-34D2-C23B-6A35-2B087AD1E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989F3-B7C2-6A91-DCF2-D6690791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40D09-DBB3-D258-77A8-177C26E3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9958A-DDC2-7694-EC8B-6C3D87DC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17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F6D9-E80E-1318-9B2C-6C893157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6F61E-DFC3-0368-DF13-02A40A029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E6770-B5F3-130A-5982-94FC21A6E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1174F-549E-1670-8131-EAE42326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E115B-276F-129B-41A5-D8FC51327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DBA5A-F7C7-D0D9-A034-1D8BDAF1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321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C5C8-540D-9E9C-D9E8-B11A66DA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EC9D2-6CF9-57AB-0080-2C5C23D38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C4E92-08E6-E67E-2139-534AA48C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11495-EC38-B1C6-5A18-12E48B7E6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AAC40-DEF0-A5A2-EA1A-95B554059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66702A-CA09-8D5A-7B5C-94D1B5B7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E5878A-0A1B-EACB-03F9-157116FF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7826E-4127-0D31-4CB9-C83D5971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67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6BC7-D927-5482-D237-BB7597D5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5A1EE-3E29-2411-8C5D-9F568094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1E412-DC0C-7557-C0BB-B5DA1ABF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45063-512E-4765-1FF0-F4EDE217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647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20979-3D17-6128-F2ED-FCC33B79A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F151F-574C-D15C-1D79-BE0BD05E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A9963-D7A7-AEF5-B96D-EF3C9439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93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320F1-DE6A-5B2C-FC46-F4BE2A5C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5726-5C37-4A25-9CFA-C3F7AAC35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B38D7-70A9-A87F-5580-FC4B7D09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CC65C-1D6F-CAD5-564A-AB9D7277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8B6CF-B582-2B5A-0D3F-E9DFEFF7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CD510-BEBE-B272-EA59-6D4EB374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62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EB53-1490-BB28-A585-B90716D0F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F0419-685D-ACAC-2250-752FCCD05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3B108-EDAC-96C8-F17F-4951C29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018A9-D11D-0416-1E5D-0FE33B5B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5B0CC-7428-037D-2BCA-F4CDB3B7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C9AB1-E195-0A81-86FA-A0FB2B7B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85EA-0D93-AA25-2A41-53AD7CCA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F1B2C-9C2A-4252-2B3F-3243C52F7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E2924-CBFA-AE21-E413-6C5F1291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B069-CA9E-3760-B9E9-10BD4C09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03F54-DEBF-01BB-E035-29694A01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69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50D0B-1E92-9BDB-FCDD-7E3D60DE1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033CC-705F-D4DF-3B8D-D9F93B01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E6E0A-E12E-5358-D04C-AE0F91F5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21623-DAFB-8F35-749E-FD7CBC1F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3862E-CA51-DA32-59D0-54F3859E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17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2B3CB-0C3A-8C09-C22B-7B84DEB1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826F4-20A8-4502-26DC-066046EA1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BD087-C242-C0B2-5714-E31F23E69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91A84-67E8-434B-B32A-F12478EE70B9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97C02-0195-75FA-BAA6-ECDBD3697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7BDE5-9543-5AF3-0AF4-558CB197C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801F3-DD5F-4A8E-A64C-C259387C2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9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B8DB5B-15A6-942E-6258-6DE3E554A008}"/>
              </a:ext>
            </a:extLst>
          </p:cNvPr>
          <p:cNvSpPr txBox="1"/>
          <p:nvPr/>
        </p:nvSpPr>
        <p:spPr>
          <a:xfrm>
            <a:off x="882650" y="675888"/>
            <a:ext cx="8813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 err="1"/>
              <a:t>SkillsBridge</a:t>
            </a:r>
            <a:r>
              <a:rPr lang="en-US" sz="3200" b="1" dirty="0"/>
              <a:t> </a:t>
            </a:r>
          </a:p>
          <a:p>
            <a:pPr>
              <a:buNone/>
            </a:pPr>
            <a:r>
              <a:rPr lang="en-US" sz="2000" b="1" dirty="0"/>
              <a:t>An AI-Powered Job Readiness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DD9AF-2A2A-6F79-A72E-67EE602946FF}"/>
              </a:ext>
            </a:extLst>
          </p:cNvPr>
          <p:cNvSpPr txBox="1"/>
          <p:nvPr/>
        </p:nvSpPr>
        <p:spPr>
          <a:xfrm>
            <a:off x="2590800" y="2089140"/>
            <a:ext cx="7010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in Current Job Market</a:t>
            </a:r>
          </a:p>
          <a:p>
            <a:r>
              <a:rPr lang="en-US" dirty="0"/>
              <a:t>Candidates apply blindly without understanding skill requirements</a:t>
            </a:r>
          </a:p>
          <a:p>
            <a:r>
              <a:rPr lang="en-US" dirty="0"/>
              <a:t>Employers struggle to find “job-ready” candidates</a:t>
            </a:r>
          </a:p>
          <a:p>
            <a:r>
              <a:rPr lang="en-US" dirty="0"/>
              <a:t>Lack of </a:t>
            </a:r>
            <a:r>
              <a:rPr lang="en-US" b="1" dirty="0"/>
              <a:t>personalized guidance</a:t>
            </a:r>
            <a:r>
              <a:rPr lang="en-US" dirty="0"/>
              <a:t> on what to learn to crack specific jobs</a:t>
            </a:r>
          </a:p>
          <a:p>
            <a:r>
              <a:rPr lang="en-US" dirty="0"/>
              <a:t>Mismatch between </a:t>
            </a:r>
            <a:r>
              <a:rPr lang="en-US" b="1" dirty="0"/>
              <a:t>academic knowledge and industry expectations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Our Solution</a:t>
            </a:r>
          </a:p>
          <a:p>
            <a:r>
              <a:rPr lang="en-US" dirty="0"/>
              <a:t> </a:t>
            </a:r>
            <a:r>
              <a:rPr lang="en-US" b="1" dirty="0"/>
              <a:t>Smart Job Matching</a:t>
            </a:r>
            <a:r>
              <a:rPr lang="en-US" dirty="0"/>
              <a:t> using Skill Vector Mapping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AI-Based Skill Gap Detection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Personalized Upskilling Recommendations</a:t>
            </a:r>
            <a:r>
              <a:rPr lang="en-US" dirty="0"/>
              <a:t> (Courses, Certifications)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Assessment &amp; Mock Interview using AI (</a:t>
            </a:r>
            <a:r>
              <a:rPr lang="en-US" b="1" dirty="0" err="1"/>
              <a:t>LLaMA</a:t>
            </a:r>
            <a:r>
              <a:rPr lang="en-US" b="1" dirty="0"/>
              <a:t> + Gemini)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Goal – Transform Applicants into Job-Ready Professionals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63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5C17-2D79-2F98-E654-24ED8297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EDA567-D843-28A9-CE11-24950A442076}"/>
                  </a:ext>
                </a:extLst>
              </p:cNvPr>
              <p:cNvSpPr txBox="1"/>
              <p:nvPr/>
            </p:nvSpPr>
            <p:spPr>
              <a:xfrm>
                <a:off x="258144" y="1028093"/>
                <a:ext cx="6096000" cy="5931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Module-Wise Algorithm Flow</a:t>
                </a:r>
              </a:p>
              <a:p>
                <a:pPr>
                  <a:buNone/>
                </a:pPr>
                <a:r>
                  <a:rPr lang="en-IN" b="1" dirty="0"/>
                  <a:t>1. User Profile &amp; Skill Input Module</a:t>
                </a:r>
              </a:p>
              <a:p>
                <a:pPr>
                  <a:buNone/>
                </a:pPr>
                <a:r>
                  <a:rPr lang="en-IN" b="1" dirty="0"/>
                  <a:t>Algorithm:</a:t>
                </a:r>
                <a:endParaRPr lang="en-IN" dirty="0"/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User registers and enters skills manually or uploads resume.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AI extracts skills → Generates </a:t>
                </a:r>
                <a:r>
                  <a:rPr lang="en-IN" b="1" dirty="0"/>
                  <a:t>User Skill Vector</a:t>
                </a:r>
                <a:endParaRPr lang="en-IN" dirty="0"/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Store in database.</a:t>
                </a:r>
              </a:p>
              <a:p>
                <a:pPr>
                  <a:buNone/>
                </a:pPr>
                <a:endParaRPr lang="en-IN" dirty="0"/>
              </a:p>
              <a:p>
                <a:r>
                  <a:rPr lang="en-IN" b="1" dirty="0"/>
                  <a:t>2. Job Description Processing &amp; Ranking</a:t>
                </a:r>
              </a:p>
              <a:p>
                <a:r>
                  <a:rPr lang="en-IN" b="1" dirty="0"/>
                  <a:t>Algorithm Steps:</a:t>
                </a:r>
                <a:endParaRPr lang="en-IN" dirty="0"/>
              </a:p>
              <a:p>
                <a:r>
                  <a:rPr lang="en-IN" dirty="0"/>
                  <a:t>System fetches </a:t>
                </a:r>
                <a:r>
                  <a:rPr lang="en-IN" b="1" dirty="0"/>
                  <a:t>Top 10 most relevant Job Descriptions (JDs)</a:t>
                </a:r>
                <a:r>
                  <a:rPr lang="en-IN" dirty="0"/>
                  <a:t> using </a:t>
                </a:r>
                <a:r>
                  <a:rPr lang="en-IN" b="1" dirty="0"/>
                  <a:t>Resume Parsing + Skill Matching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AI </a:t>
                </a:r>
                <a:r>
                  <a:rPr lang="en-IN" b="1" dirty="0"/>
                  <a:t>extracts required skills</a:t>
                </a:r>
                <a:r>
                  <a:rPr lang="en-IN" dirty="0"/>
                  <a:t> from each JD → Generates </a:t>
                </a:r>
                <a:r>
                  <a:rPr lang="en-IN" b="1" dirty="0"/>
                  <a:t>JD Skill Vector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𝑉</m:t>
                        </m:r>
                      </m:e>
                      <m:sub>
                        <m:r>
                          <a:rPr lang="ar-AE" i="1"/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r>
                  <a:rPr lang="en-IN" dirty="0"/>
                  <a:t>For each JD, compute </a:t>
                </a:r>
                <a:r>
                  <a:rPr lang="en-IN" b="1" dirty="0"/>
                  <a:t>Relevance Score</a:t>
                </a:r>
                <a:r>
                  <a:rPr lang="en-IN" dirty="0"/>
                  <a:t> based on user's current skill vector.</a:t>
                </a:r>
              </a:p>
              <a:p>
                <a:r>
                  <a:rPr lang="en-IN" b="1" dirty="0"/>
                  <a:t>Rank JDs</a:t>
                </a:r>
                <a:r>
                  <a:rPr lang="en-IN" dirty="0"/>
                  <a:t> in descending order of match score.</a:t>
                </a:r>
              </a:p>
              <a:p>
                <a:r>
                  <a:rPr lang="en-IN" b="1" dirty="0"/>
                  <a:t>Top-ranked JD is selected for Interview Scheduling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System initiates </a:t>
                </a:r>
                <a:r>
                  <a:rPr lang="en-IN" b="1" dirty="0"/>
                  <a:t>AI Mock Interview / Gemini-based evaluation</a:t>
                </a:r>
                <a:r>
                  <a:rPr lang="en-IN" dirty="0"/>
                  <a:t> based on the </a:t>
                </a:r>
                <a:r>
                  <a:rPr lang="en-IN" b="1" dirty="0"/>
                  <a:t>best-matched JD</a:t>
                </a:r>
                <a:r>
                  <a:rPr lang="en-IN" dirty="0"/>
                  <a:t>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EDA567-D843-28A9-CE11-24950A442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44" y="1028093"/>
                <a:ext cx="6096000" cy="5931624"/>
              </a:xfrm>
              <a:prstGeom prst="rect">
                <a:avLst/>
              </a:prstGeom>
              <a:blipFill>
                <a:blip r:embed="rId2"/>
                <a:stretch>
                  <a:fillRect l="-800" t="-6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A0C8759-628B-B6D6-9B1B-7C9116477C2C}"/>
              </a:ext>
            </a:extLst>
          </p:cNvPr>
          <p:cNvSpPr txBox="1"/>
          <p:nvPr/>
        </p:nvSpPr>
        <p:spPr>
          <a:xfrm>
            <a:off x="6419850" y="394692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3. Upskilling Recommendation Module</a:t>
            </a:r>
          </a:p>
          <a:p>
            <a:pPr>
              <a:buNone/>
            </a:pPr>
            <a:r>
              <a:rPr lang="en-IN" b="1" dirty="0"/>
              <a:t>Algorithm:</a:t>
            </a:r>
          </a:p>
          <a:p>
            <a:r>
              <a:rPr lang="en-US" dirty="0"/>
              <a:t>1. Detect missing skills from </a:t>
            </a:r>
            <a:r>
              <a:rPr lang="en-US" b="1" dirty="0"/>
              <a:t>Gap Vector</a:t>
            </a:r>
            <a:r>
              <a:rPr lang="en-US" dirty="0"/>
              <a:t>.</a:t>
            </a:r>
          </a:p>
          <a:p>
            <a:r>
              <a:rPr lang="en-US" b="1" dirty="0"/>
              <a:t>2. Search Course DB / AI Suggestion (</a:t>
            </a:r>
            <a:r>
              <a:rPr lang="en-US" b="1" dirty="0" err="1"/>
              <a:t>LLaMA</a:t>
            </a:r>
            <a:r>
              <a:rPr lang="en-US" b="1" dirty="0"/>
              <a:t>)</a:t>
            </a:r>
            <a:r>
              <a:rPr lang="en-US" dirty="0"/>
              <a:t> to fetch learning content.</a:t>
            </a:r>
          </a:p>
          <a:p>
            <a:r>
              <a:rPr lang="en-US" dirty="0"/>
              <a:t>3. Generate a </a:t>
            </a:r>
            <a:r>
              <a:rPr lang="en-US" b="1" dirty="0"/>
              <a:t>Personalized Learning Path</a:t>
            </a:r>
            <a:r>
              <a:rPr lang="en-US" dirty="0"/>
              <a:t> with priority-wise skills.</a:t>
            </a:r>
          </a:p>
          <a:p>
            <a:r>
              <a:rPr lang="en-US" dirty="0"/>
              <a:t>4. Show </a:t>
            </a:r>
            <a:r>
              <a:rPr lang="en-US" b="1" dirty="0"/>
              <a:t>Recommended Learning Timeline + Progress Tracking</a:t>
            </a:r>
            <a:r>
              <a:rPr lang="en-US" dirty="0"/>
              <a:t>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5. Assessment &amp; AI Interview Module</a:t>
            </a:r>
          </a:p>
          <a:p>
            <a:pPr>
              <a:buNone/>
            </a:pPr>
            <a:r>
              <a:rPr lang="en-IN" b="1" dirty="0"/>
              <a:t>Algorithm:</a:t>
            </a:r>
            <a:endParaRPr lang="en-IN" dirty="0"/>
          </a:p>
          <a:p>
            <a:r>
              <a:rPr lang="en-US" b="1" dirty="0"/>
              <a:t>1. Schedule Mock Interview with AI</a:t>
            </a:r>
            <a:r>
              <a:rPr lang="en-US" dirty="0"/>
              <a:t> once learning progress reaches threshold.</a:t>
            </a:r>
          </a:p>
          <a:p>
            <a:r>
              <a:rPr lang="en-US" dirty="0"/>
              <a:t>2. AI generates </a:t>
            </a:r>
            <a:r>
              <a:rPr lang="en-US" b="1" dirty="0"/>
              <a:t>role-based interview questions</a:t>
            </a:r>
            <a:r>
              <a:rPr lang="en-US" dirty="0"/>
              <a:t> from top-matched JD.</a:t>
            </a:r>
          </a:p>
          <a:p>
            <a:r>
              <a:rPr lang="en-US" dirty="0"/>
              <a:t>3. AI evaluates answers and </a:t>
            </a:r>
            <a:r>
              <a:rPr lang="en-US" b="1" dirty="0"/>
              <a:t>provides real-time feedback &amp; improvement tips</a:t>
            </a:r>
            <a:r>
              <a:rPr lang="en-US" dirty="0"/>
              <a:t>.</a:t>
            </a:r>
          </a:p>
          <a:p>
            <a:r>
              <a:rPr lang="en-US" dirty="0"/>
              <a:t>4. System </a:t>
            </a:r>
            <a:r>
              <a:rPr lang="en-US" b="1" dirty="0"/>
              <a:t>updates readiness score</a:t>
            </a:r>
            <a:r>
              <a:rPr lang="en-US" dirty="0"/>
              <a:t> and suggests retry or move to job application.</a:t>
            </a:r>
          </a:p>
        </p:txBody>
      </p:sp>
    </p:spTree>
    <p:extLst>
      <p:ext uri="{BB962C8B-B14F-4D97-AF65-F5344CB8AC3E}">
        <p14:creationId xmlns:p14="http://schemas.microsoft.com/office/powerpoint/2010/main" val="125878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C0E7-C630-D4BF-BF78-58001498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045639-903F-2DEC-132A-0AE8EFAADD0F}"/>
              </a:ext>
            </a:extLst>
          </p:cNvPr>
          <p:cNvSpPr txBox="1"/>
          <p:nvPr/>
        </p:nvSpPr>
        <p:spPr>
          <a:xfrm>
            <a:off x="908050" y="8440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Test Cases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426E82-2A2F-4544-12F9-B2DE88041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73179"/>
              </p:ext>
            </p:extLst>
          </p:nvPr>
        </p:nvGraphicFramePr>
        <p:xfrm>
          <a:off x="1460500" y="1397000"/>
          <a:ext cx="8426452" cy="4711766"/>
        </p:xfrm>
        <a:graphic>
          <a:graphicData uri="http://schemas.openxmlformats.org/drawingml/2006/table">
            <a:tbl>
              <a:tblPr/>
              <a:tblGrid>
                <a:gridCol w="2106613">
                  <a:extLst>
                    <a:ext uri="{9D8B030D-6E8A-4147-A177-3AD203B41FA5}">
                      <a16:colId xmlns:a16="http://schemas.microsoft.com/office/drawing/2014/main" val="652896614"/>
                    </a:ext>
                  </a:extLst>
                </a:gridCol>
                <a:gridCol w="2106613">
                  <a:extLst>
                    <a:ext uri="{9D8B030D-6E8A-4147-A177-3AD203B41FA5}">
                      <a16:colId xmlns:a16="http://schemas.microsoft.com/office/drawing/2014/main" val="3507750074"/>
                    </a:ext>
                  </a:extLst>
                </a:gridCol>
                <a:gridCol w="2106613">
                  <a:extLst>
                    <a:ext uri="{9D8B030D-6E8A-4147-A177-3AD203B41FA5}">
                      <a16:colId xmlns:a16="http://schemas.microsoft.com/office/drawing/2014/main" val="2159972542"/>
                    </a:ext>
                  </a:extLst>
                </a:gridCol>
                <a:gridCol w="2106613">
                  <a:extLst>
                    <a:ext uri="{9D8B030D-6E8A-4147-A177-3AD203B41FA5}">
                      <a16:colId xmlns:a16="http://schemas.microsoft.com/office/drawing/2014/main" val="3392772807"/>
                    </a:ext>
                  </a:extLst>
                </a:gridCol>
              </a:tblGrid>
              <a:tr h="236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S.No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Module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Input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Expected Output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736512"/>
                  </a:ext>
                </a:extLst>
              </a:tr>
              <a:tr h="415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User Registration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New user signs up with email/password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Account created successfully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417555"/>
                  </a:ext>
                </a:extLst>
              </a:tr>
              <a:tr h="406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Resume Upload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Upload resume file (PDF/DOC)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Resume parsed successfully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331846"/>
                  </a:ext>
                </a:extLst>
              </a:tr>
              <a:tr h="580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Skill Entry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User enters skills manually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Skills saved automatically after cleaning &amp; preprocessing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639184"/>
                  </a:ext>
                </a:extLst>
              </a:tr>
              <a:tr h="580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Job Search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User searches for jobs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Top 10 relevant job listings displayed automatically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561624"/>
                  </a:ext>
                </a:extLst>
              </a:tr>
              <a:tr h="415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Job Recommendation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User profile and skills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Platform suggests suitable jobs automatically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479647"/>
                  </a:ext>
                </a:extLst>
              </a:tr>
              <a:tr h="415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Upskilling Suggestion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Partial match with job requirements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Recommended courses/resources shown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030905"/>
                  </a:ext>
                </a:extLst>
              </a:tr>
              <a:tr h="415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Learning Path Display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User selects suggested courses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Personalized learning timeline displayed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554933"/>
                  </a:ext>
                </a:extLst>
              </a:tr>
              <a:tr h="415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Assessment Attempt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User completes a test/quiz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Test submitted and score shown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893065"/>
                  </a:ext>
                </a:extLst>
              </a:tr>
              <a:tr h="415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9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Mock Interview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User schedules AI mock interview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Interview conducted and feedback provided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875660"/>
                  </a:ext>
                </a:extLst>
              </a:tr>
              <a:tr h="415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10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Progress Tracking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User completes learning modules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Progress status updated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91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14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6C81E-AB46-A418-D036-7C0A492E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954E71-29A9-398D-A530-F4DA377797ED}"/>
              </a:ext>
            </a:extLst>
          </p:cNvPr>
          <p:cNvSpPr txBox="1"/>
          <p:nvPr/>
        </p:nvSpPr>
        <p:spPr>
          <a:xfrm>
            <a:off x="908050" y="8440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Functional morphism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D9E6B-4253-6381-1BFA-9FD0B432F8D0}"/>
                  </a:ext>
                </a:extLst>
              </p:cNvPr>
              <p:cNvSpPr txBox="1"/>
              <p:nvPr/>
            </p:nvSpPr>
            <p:spPr>
              <a:xfrm>
                <a:off x="2724150" y="1892290"/>
                <a:ext cx="631825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Functional Morphism – </a:t>
                </a:r>
                <a:r>
                  <a:rPr lang="en-IN" b="1" dirty="0" err="1"/>
                  <a:t>SkillsBridge</a:t>
                </a:r>
                <a:endParaRPr lang="en-IN" b="1" dirty="0"/>
              </a:p>
              <a:p>
                <a:pPr>
                  <a:buNone/>
                </a:pPr>
                <a:r>
                  <a:rPr lang="en-IN" b="1" dirty="0"/>
                  <a:t>Definitions: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Let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→ Map </a:t>
                </a:r>
                <a:r>
                  <a:rPr lang="en-IN" b="1" dirty="0"/>
                  <a:t>users</a:t>
                </a:r>
                <a:r>
                  <a:rPr lang="en-IN" dirty="0"/>
                  <a:t> to their </a:t>
                </a:r>
                <a:r>
                  <a:rPr lang="en-IN" b="1" dirty="0"/>
                  <a:t>skill sets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Let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→ Map </a:t>
                </a:r>
                <a:r>
                  <a:rPr lang="en-IN" b="1" dirty="0"/>
                  <a:t>job descriptions</a:t>
                </a:r>
                <a:r>
                  <a:rPr lang="en-IN" dirty="0"/>
                  <a:t> to </a:t>
                </a:r>
                <a:r>
                  <a:rPr lang="en-IN" b="1" dirty="0"/>
                  <a:t>required skills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Let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N" dirty="0"/>
                  <a:t>→ Compute </a:t>
                </a:r>
                <a:r>
                  <a:rPr lang="en-IN" b="1" dirty="0"/>
                  <a:t>compatibility score</a:t>
                </a:r>
                <a:r>
                  <a:rPr lang="en-IN" dirty="0"/>
                  <a:t> between user and job.</a:t>
                </a:r>
              </a:p>
              <a:p>
                <a:pPr>
                  <a:buNone/>
                </a:pPr>
                <a:r>
                  <a:rPr lang="en-IN" b="1" dirty="0"/>
                  <a:t>Composition: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d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Compatibility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Score</m:t>
                      </m:r>
                    </m:oMath>
                  </m:oMathPara>
                </a14:m>
                <a:endParaRPr lang="en-IN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If score &lt; threshold → Trigger </a:t>
                </a:r>
                <a:r>
                  <a:rPr lang="en-IN" b="1" dirty="0"/>
                  <a:t>Upskilling Module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IN" dirty="0"/>
                  <a:t>= Skill Gap Vector,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N" dirty="0"/>
                  <a:t>= Recommended Learning Resources.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DD9E6B-4253-6381-1BFA-9FD0B432F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150" y="1892290"/>
                <a:ext cx="6318250" cy="3416320"/>
              </a:xfrm>
              <a:prstGeom prst="rect">
                <a:avLst/>
              </a:prstGeom>
              <a:blipFill>
                <a:blip r:embed="rId2"/>
                <a:stretch>
                  <a:fillRect l="-869" t="-891" b="-1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97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30A7-5C22-B826-DAF1-2B54A22A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7D670D-81FA-1ABF-B547-BCA0598E7006}"/>
              </a:ext>
            </a:extLst>
          </p:cNvPr>
          <p:cNvSpPr txBox="1"/>
          <p:nvPr/>
        </p:nvSpPr>
        <p:spPr>
          <a:xfrm>
            <a:off x="908050" y="8440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Mathematical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23CE54-A988-B80C-919A-F443672FDE94}"/>
                  </a:ext>
                </a:extLst>
              </p:cNvPr>
              <p:cNvSpPr txBox="1"/>
              <p:nvPr/>
            </p:nvSpPr>
            <p:spPr>
              <a:xfrm>
                <a:off x="3048000" y="1411653"/>
                <a:ext cx="6096000" cy="4311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Mathematical Model – </a:t>
                </a:r>
                <a:r>
                  <a:rPr lang="en-IN" b="1" dirty="0" err="1"/>
                  <a:t>SkillsBridge</a:t>
                </a:r>
                <a:endParaRPr lang="en-IN" b="1" dirty="0"/>
              </a:p>
              <a:p>
                <a:pPr>
                  <a:buNone/>
                </a:pPr>
                <a:r>
                  <a:rPr lang="en-IN" b="1" dirty="0"/>
                  <a:t>1. Sets and Entities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Users: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Job Descriptions: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Skills: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ar-AE" b="1" dirty="0"/>
                  <a:t>2. </a:t>
                </a:r>
                <a:r>
                  <a:rPr lang="en-IN" b="1" dirty="0"/>
                  <a:t>Skill Representation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User Skill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Job Skill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ar-AE" b="1" dirty="0"/>
                  <a:t>3. </a:t>
                </a:r>
                <a:r>
                  <a:rPr lang="en-IN" b="1" dirty="0"/>
                  <a:t>Compatibility Score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/>
                  <a:t>, 1 → </a:t>
                </a:r>
                <a:r>
                  <a:rPr lang="en-IN" dirty="0"/>
                  <a:t>perfect match</a:t>
                </a:r>
              </a:p>
              <a:p>
                <a:pPr>
                  <a:buNone/>
                </a:pPr>
                <a:r>
                  <a:rPr lang="en-IN" b="1" dirty="0"/>
                  <a:t>4. Skill Gap Vector</a:t>
                </a:r>
              </a:p>
              <a:p>
                <a:pPr>
                  <a:buNone/>
                </a:pPr>
                <a:r>
                  <a:rPr lang="en-IN" dirty="0"/>
                  <a:t>G=max(</a:t>
                </a:r>
                <a:r>
                  <a:rPr lang="en-IN" dirty="0" err="1"/>
                  <a:t>Vj</a:t>
                </a:r>
                <a:r>
                  <a:rPr lang="en-IN" dirty="0"/>
                  <a:t>​−Vu​,0)</a:t>
                </a:r>
              </a:p>
              <a:p>
                <a:pPr>
                  <a:buNone/>
                </a:pPr>
                <a:r>
                  <a:rPr lang="en-IN" b="1" dirty="0"/>
                  <a:t>5. Upskilling &amp; Assessment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After completing learning: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User is </a:t>
                </a:r>
                <a:r>
                  <a:rPr lang="en-IN" b="1" dirty="0"/>
                  <a:t>ready to apply</a:t>
                </a:r>
                <a:r>
                  <a:rPr lang="en-IN" dirty="0"/>
                  <a:t> 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23CE54-A988-B80C-919A-F443672FD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411653"/>
                <a:ext cx="6096000" cy="4311693"/>
              </a:xfrm>
              <a:prstGeom prst="rect">
                <a:avLst/>
              </a:prstGeom>
              <a:blipFill>
                <a:blip r:embed="rId2"/>
                <a:stretch>
                  <a:fillRect l="-900" t="-849" b="-8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39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3A25-204B-2753-2126-8C7F85D2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killsbridge_component.png">
            <a:extLst>
              <a:ext uri="{FF2B5EF4-FFF2-40B4-BE49-F238E27FC236}">
                <a16:creationId xmlns:a16="http://schemas.microsoft.com/office/drawing/2014/main" id="{4C595849-3998-FB53-E325-A816FE5B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369332"/>
            <a:ext cx="9347200" cy="63231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A707DA-DA05-A9BE-3901-AC5AC46F8063}"/>
              </a:ext>
            </a:extLst>
          </p:cNvPr>
          <p:cNvSpPr txBox="1"/>
          <p:nvPr/>
        </p:nvSpPr>
        <p:spPr>
          <a:xfrm>
            <a:off x="387350" y="1654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UML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87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662</Words>
  <Application>Microsoft Office PowerPoint</Application>
  <PresentationFormat>Widescreen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Km Gm</dc:creator>
  <cp:lastModifiedBy>Km Gm</cp:lastModifiedBy>
  <cp:revision>2</cp:revision>
  <dcterms:created xsi:type="dcterms:W3CDTF">2025-10-09T11:53:07Z</dcterms:created>
  <dcterms:modified xsi:type="dcterms:W3CDTF">2025-10-09T15:23:32Z</dcterms:modified>
</cp:coreProperties>
</file>